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60" r:id="rId2"/>
  </p:sldIdLst>
  <p:sldSz cx="36576000" cy="29260800"/>
  <p:notesSz cx="6858000" cy="9144000"/>
  <p:defaultTextStyle>
    <a:defPPr>
      <a:defRPr lang="en-US"/>
    </a:defPPr>
    <a:lvl1pPr marL="0" algn="l" defTabSz="3160166" rtl="0" eaLnBrk="1" latinLnBrk="0" hangingPunct="1">
      <a:defRPr sz="6221" kern="1200">
        <a:solidFill>
          <a:schemeClr val="tx1"/>
        </a:solidFill>
        <a:latin typeface="+mn-lt"/>
        <a:ea typeface="+mn-ea"/>
        <a:cs typeface="+mn-cs"/>
      </a:defRPr>
    </a:lvl1pPr>
    <a:lvl2pPr marL="1580083" algn="l" defTabSz="3160166" rtl="0" eaLnBrk="1" latinLnBrk="0" hangingPunct="1">
      <a:defRPr sz="6221" kern="1200">
        <a:solidFill>
          <a:schemeClr val="tx1"/>
        </a:solidFill>
        <a:latin typeface="+mn-lt"/>
        <a:ea typeface="+mn-ea"/>
        <a:cs typeface="+mn-cs"/>
      </a:defRPr>
    </a:lvl2pPr>
    <a:lvl3pPr marL="3160166" algn="l" defTabSz="3160166" rtl="0" eaLnBrk="1" latinLnBrk="0" hangingPunct="1">
      <a:defRPr sz="6221" kern="1200">
        <a:solidFill>
          <a:schemeClr val="tx1"/>
        </a:solidFill>
        <a:latin typeface="+mn-lt"/>
        <a:ea typeface="+mn-ea"/>
        <a:cs typeface="+mn-cs"/>
      </a:defRPr>
    </a:lvl3pPr>
    <a:lvl4pPr marL="4740250" algn="l" defTabSz="3160166" rtl="0" eaLnBrk="1" latinLnBrk="0" hangingPunct="1">
      <a:defRPr sz="6221" kern="1200">
        <a:solidFill>
          <a:schemeClr val="tx1"/>
        </a:solidFill>
        <a:latin typeface="+mn-lt"/>
        <a:ea typeface="+mn-ea"/>
        <a:cs typeface="+mn-cs"/>
      </a:defRPr>
    </a:lvl4pPr>
    <a:lvl5pPr marL="6320333" algn="l" defTabSz="3160166" rtl="0" eaLnBrk="1" latinLnBrk="0" hangingPunct="1">
      <a:defRPr sz="6221" kern="1200">
        <a:solidFill>
          <a:schemeClr val="tx1"/>
        </a:solidFill>
        <a:latin typeface="+mn-lt"/>
        <a:ea typeface="+mn-ea"/>
        <a:cs typeface="+mn-cs"/>
      </a:defRPr>
    </a:lvl5pPr>
    <a:lvl6pPr marL="7900416" algn="l" defTabSz="3160166" rtl="0" eaLnBrk="1" latinLnBrk="0" hangingPunct="1">
      <a:defRPr sz="6221" kern="1200">
        <a:solidFill>
          <a:schemeClr val="tx1"/>
        </a:solidFill>
        <a:latin typeface="+mn-lt"/>
        <a:ea typeface="+mn-ea"/>
        <a:cs typeface="+mn-cs"/>
      </a:defRPr>
    </a:lvl6pPr>
    <a:lvl7pPr marL="9480499" algn="l" defTabSz="3160166" rtl="0" eaLnBrk="1" latinLnBrk="0" hangingPunct="1">
      <a:defRPr sz="6221" kern="1200">
        <a:solidFill>
          <a:schemeClr val="tx1"/>
        </a:solidFill>
        <a:latin typeface="+mn-lt"/>
        <a:ea typeface="+mn-ea"/>
        <a:cs typeface="+mn-cs"/>
      </a:defRPr>
    </a:lvl7pPr>
    <a:lvl8pPr marL="11060582" algn="l" defTabSz="3160166" rtl="0" eaLnBrk="1" latinLnBrk="0" hangingPunct="1">
      <a:defRPr sz="6221" kern="1200">
        <a:solidFill>
          <a:schemeClr val="tx1"/>
        </a:solidFill>
        <a:latin typeface="+mn-lt"/>
        <a:ea typeface="+mn-ea"/>
        <a:cs typeface="+mn-cs"/>
      </a:defRPr>
    </a:lvl8pPr>
    <a:lvl9pPr marL="12640666" algn="l" defTabSz="3160166" rtl="0" eaLnBrk="1" latinLnBrk="0" hangingPunct="1">
      <a:defRPr sz="6221"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F2DB76-6F20-44AC-BA91-17348729E36B}" v="1" dt="2026-04-17T20:19:38.2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8" d="100"/>
          <a:sy n="18" d="100"/>
        </p:scale>
        <p:origin x="1838"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drey Dickson" userId="daf5528ff7a15842" providerId="LiveId" clId="{9FB1EA1F-47EA-40C9-B4BA-BCF7D8F5266B}"/>
    <pc:docChg chg="addSld delSld modSld">
      <pc:chgData name="Audrey Dickson" userId="daf5528ff7a15842" providerId="LiveId" clId="{9FB1EA1F-47EA-40C9-B4BA-BCF7D8F5266B}" dt="2026-04-17T20:19:42.586" v="1" actId="47"/>
      <pc:docMkLst>
        <pc:docMk/>
      </pc:docMkLst>
      <pc:sldChg chg="add">
        <pc:chgData name="Audrey Dickson" userId="daf5528ff7a15842" providerId="LiveId" clId="{9FB1EA1F-47EA-40C9-B4BA-BCF7D8F5266B}" dt="2026-04-17T20:19:38.209" v="0"/>
        <pc:sldMkLst>
          <pc:docMk/>
          <pc:sldMk cId="1796610229" sldId="260"/>
        </pc:sldMkLst>
      </pc:sldChg>
      <pc:sldChg chg="del">
        <pc:chgData name="Audrey Dickson" userId="daf5528ff7a15842" providerId="LiveId" clId="{9FB1EA1F-47EA-40C9-B4BA-BCF7D8F5266B}" dt="2026-04-17T20:19:42.586" v="1" actId="47"/>
        <pc:sldMkLst>
          <pc:docMk/>
          <pc:sldMk cId="8801896"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623017-4C27-461E-891B-6DCD94B201E0}" type="datetimeFigureOut">
              <a:rPr lang="en-US" smtClean="0"/>
              <a:t>4/17/2026</a:t>
            </a:fld>
            <a:endParaRPr lang="en-US"/>
          </a:p>
        </p:txBody>
      </p:sp>
      <p:sp>
        <p:nvSpPr>
          <p:cNvPr id="4" name="Slide Image Placeholder 3"/>
          <p:cNvSpPr>
            <a:spLocks noGrp="1" noRot="1" noChangeAspect="1"/>
          </p:cNvSpPr>
          <p:nvPr>
            <p:ph type="sldImg" idx="2"/>
          </p:nvPr>
        </p:nvSpPr>
        <p:spPr>
          <a:xfrm>
            <a:off x="1500188" y="1143000"/>
            <a:ext cx="3857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04259-4084-4C6F-ACD6-98735E1E8238}" type="slidenum">
              <a:rPr lang="en-US" smtClean="0"/>
              <a:t>‹#›</a:t>
            </a:fld>
            <a:endParaRPr lang="en-US"/>
          </a:p>
        </p:txBody>
      </p:sp>
    </p:spTree>
    <p:extLst>
      <p:ext uri="{BB962C8B-B14F-4D97-AF65-F5344CB8AC3E}">
        <p14:creationId xmlns:p14="http://schemas.microsoft.com/office/powerpoint/2010/main" val="1950094612"/>
      </p:ext>
    </p:extLst>
  </p:cSld>
  <p:clrMap bg1="lt1" tx1="dk1" bg2="lt2" tx2="dk2" accent1="accent1" accent2="accent2" accent3="accent3" accent4="accent4" accent5="accent5" accent6="accent6" hlink="hlink" folHlink="folHlink"/>
  <p:notesStyle>
    <a:lvl1pPr marL="0" algn="l" defTabSz="3160166" rtl="0" eaLnBrk="1" latinLnBrk="0" hangingPunct="1">
      <a:defRPr sz="4147" kern="1200">
        <a:solidFill>
          <a:schemeClr val="tx1"/>
        </a:solidFill>
        <a:latin typeface="+mn-lt"/>
        <a:ea typeface="+mn-ea"/>
        <a:cs typeface="+mn-cs"/>
      </a:defRPr>
    </a:lvl1pPr>
    <a:lvl2pPr marL="1580083" algn="l" defTabSz="3160166" rtl="0" eaLnBrk="1" latinLnBrk="0" hangingPunct="1">
      <a:defRPr sz="4147" kern="1200">
        <a:solidFill>
          <a:schemeClr val="tx1"/>
        </a:solidFill>
        <a:latin typeface="+mn-lt"/>
        <a:ea typeface="+mn-ea"/>
        <a:cs typeface="+mn-cs"/>
      </a:defRPr>
    </a:lvl2pPr>
    <a:lvl3pPr marL="3160166" algn="l" defTabSz="3160166" rtl="0" eaLnBrk="1" latinLnBrk="0" hangingPunct="1">
      <a:defRPr sz="4147" kern="1200">
        <a:solidFill>
          <a:schemeClr val="tx1"/>
        </a:solidFill>
        <a:latin typeface="+mn-lt"/>
        <a:ea typeface="+mn-ea"/>
        <a:cs typeface="+mn-cs"/>
      </a:defRPr>
    </a:lvl3pPr>
    <a:lvl4pPr marL="4740250" algn="l" defTabSz="3160166" rtl="0" eaLnBrk="1" latinLnBrk="0" hangingPunct="1">
      <a:defRPr sz="4147" kern="1200">
        <a:solidFill>
          <a:schemeClr val="tx1"/>
        </a:solidFill>
        <a:latin typeface="+mn-lt"/>
        <a:ea typeface="+mn-ea"/>
        <a:cs typeface="+mn-cs"/>
      </a:defRPr>
    </a:lvl4pPr>
    <a:lvl5pPr marL="6320333" algn="l" defTabSz="3160166" rtl="0" eaLnBrk="1" latinLnBrk="0" hangingPunct="1">
      <a:defRPr sz="4147" kern="1200">
        <a:solidFill>
          <a:schemeClr val="tx1"/>
        </a:solidFill>
        <a:latin typeface="+mn-lt"/>
        <a:ea typeface="+mn-ea"/>
        <a:cs typeface="+mn-cs"/>
      </a:defRPr>
    </a:lvl5pPr>
    <a:lvl6pPr marL="7900416" algn="l" defTabSz="3160166" rtl="0" eaLnBrk="1" latinLnBrk="0" hangingPunct="1">
      <a:defRPr sz="4147" kern="1200">
        <a:solidFill>
          <a:schemeClr val="tx1"/>
        </a:solidFill>
        <a:latin typeface="+mn-lt"/>
        <a:ea typeface="+mn-ea"/>
        <a:cs typeface="+mn-cs"/>
      </a:defRPr>
    </a:lvl6pPr>
    <a:lvl7pPr marL="9480499" algn="l" defTabSz="3160166" rtl="0" eaLnBrk="1" latinLnBrk="0" hangingPunct="1">
      <a:defRPr sz="4147" kern="1200">
        <a:solidFill>
          <a:schemeClr val="tx1"/>
        </a:solidFill>
        <a:latin typeface="+mn-lt"/>
        <a:ea typeface="+mn-ea"/>
        <a:cs typeface="+mn-cs"/>
      </a:defRPr>
    </a:lvl7pPr>
    <a:lvl8pPr marL="11060582" algn="l" defTabSz="3160166" rtl="0" eaLnBrk="1" latinLnBrk="0" hangingPunct="1">
      <a:defRPr sz="4147" kern="1200">
        <a:solidFill>
          <a:schemeClr val="tx1"/>
        </a:solidFill>
        <a:latin typeface="+mn-lt"/>
        <a:ea typeface="+mn-ea"/>
        <a:cs typeface="+mn-cs"/>
      </a:defRPr>
    </a:lvl8pPr>
    <a:lvl9pPr marL="12640666" algn="l" defTabSz="3160166" rtl="0" eaLnBrk="1" latinLnBrk="0" hangingPunct="1">
      <a:defRPr sz="414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26A06-3BFB-0296-24F7-517BC00B0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68783-FCA9-899B-E057-8DD420E32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51C3-D06C-653C-7329-1812A9877A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5C3801-18AA-702E-8D34-3A6E666EA54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A090528-5219-4217-B035-0A5FF07184D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02844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788749"/>
            <a:ext cx="31089600" cy="10187093"/>
          </a:xfrm>
        </p:spPr>
        <p:txBody>
          <a:bodyPr anchor="b"/>
          <a:lstStyle>
            <a:lvl1pPr algn="ctr">
              <a:defRPr sz="24000"/>
            </a:lvl1pPr>
          </a:lstStyle>
          <a:p>
            <a:r>
              <a:rPr lang="en-US"/>
              <a:t>Click to edit Master title style</a:t>
            </a:r>
          </a:p>
        </p:txBody>
      </p:sp>
      <p:sp>
        <p:nvSpPr>
          <p:cNvPr id="3" name="Subtitle 2"/>
          <p:cNvSpPr>
            <a:spLocks noGrp="1"/>
          </p:cNvSpPr>
          <p:nvPr>
            <p:ph type="subTitle" idx="1"/>
          </p:nvPr>
        </p:nvSpPr>
        <p:spPr>
          <a:xfrm>
            <a:off x="4572000" y="15368695"/>
            <a:ext cx="27432000" cy="7064585"/>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p>
        </p:txBody>
      </p:sp>
      <p:sp>
        <p:nvSpPr>
          <p:cNvPr id="4" name="Date Placeholder 3"/>
          <p:cNvSpPr>
            <a:spLocks noGrp="1"/>
          </p:cNvSpPr>
          <p:nvPr>
            <p:ph type="dt" sz="half" idx="10"/>
          </p:nvPr>
        </p:nvSpPr>
        <p:spPr/>
        <p:txBody>
          <a:bodyPr/>
          <a:lstStyle/>
          <a:p>
            <a:fld id="{651A4ED9-8B4C-0648-9464-DB0F494C2DC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832752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1A4ED9-8B4C-0648-9464-DB0F494C2DC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055145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7294888"/>
            <a:ext cx="31546800" cy="12171678"/>
          </a:xfrm>
        </p:spPr>
        <p:txBody>
          <a:bodyPr anchor="b"/>
          <a:lstStyle>
            <a:lvl1pPr>
              <a:defRPr sz="24000"/>
            </a:lvl1pPr>
          </a:lstStyle>
          <a:p>
            <a:r>
              <a:rPr lang="en-US"/>
              <a:t>Click to edit Master title style</a:t>
            </a:r>
          </a:p>
        </p:txBody>
      </p:sp>
      <p:sp>
        <p:nvSpPr>
          <p:cNvPr id="3" name="Text Placeholder 2"/>
          <p:cNvSpPr>
            <a:spLocks noGrp="1"/>
          </p:cNvSpPr>
          <p:nvPr>
            <p:ph type="body" idx="1"/>
          </p:nvPr>
        </p:nvSpPr>
        <p:spPr>
          <a:xfrm>
            <a:off x="2495552" y="19581715"/>
            <a:ext cx="31546800" cy="6400798"/>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51A4ED9-8B4C-0648-9464-DB0F494C2DC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235541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14600" y="7789333"/>
            <a:ext cx="15544800" cy="1856570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8516600" y="7789333"/>
            <a:ext cx="15544800" cy="1856570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51A4ED9-8B4C-0648-9464-DB0F494C2DC2}"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594784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557873"/>
            <a:ext cx="31546800" cy="5655735"/>
          </a:xfrm>
        </p:spPr>
        <p:txBody>
          <a:bodyPr/>
          <a:lstStyle/>
          <a:p>
            <a:r>
              <a:rPr lang="en-US"/>
              <a:t>Click to edit Master title style</a:t>
            </a:r>
          </a:p>
        </p:txBody>
      </p:sp>
      <p:sp>
        <p:nvSpPr>
          <p:cNvPr id="3" name="Text Placeholder 2"/>
          <p:cNvSpPr>
            <a:spLocks noGrp="1"/>
          </p:cNvSpPr>
          <p:nvPr>
            <p:ph type="body" idx="1"/>
          </p:nvPr>
        </p:nvSpPr>
        <p:spPr>
          <a:xfrm>
            <a:off x="2519368" y="7172962"/>
            <a:ext cx="15473360" cy="351535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Edit Master text styles</a:t>
            </a:r>
          </a:p>
        </p:txBody>
      </p:sp>
      <p:sp>
        <p:nvSpPr>
          <p:cNvPr id="4" name="Content Placeholder 3"/>
          <p:cNvSpPr>
            <a:spLocks noGrp="1"/>
          </p:cNvSpPr>
          <p:nvPr>
            <p:ph sz="half" idx="2"/>
          </p:nvPr>
        </p:nvSpPr>
        <p:spPr>
          <a:xfrm>
            <a:off x="2519368" y="10688320"/>
            <a:ext cx="15473360" cy="1572090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8516602" y="7172962"/>
            <a:ext cx="15549564" cy="351535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Edit Master text styles</a:t>
            </a:r>
          </a:p>
        </p:txBody>
      </p:sp>
      <p:sp>
        <p:nvSpPr>
          <p:cNvPr id="6" name="Content Placeholder 5"/>
          <p:cNvSpPr>
            <a:spLocks noGrp="1"/>
          </p:cNvSpPr>
          <p:nvPr>
            <p:ph sz="quarter" idx="4"/>
          </p:nvPr>
        </p:nvSpPr>
        <p:spPr>
          <a:xfrm>
            <a:off x="18516602" y="10688320"/>
            <a:ext cx="15549564" cy="1572090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51A4ED9-8B4C-0648-9464-DB0F494C2DC2}"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03473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51A4ED9-8B4C-0648-9464-DB0F494C2DC2}"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25389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1A4ED9-8B4C-0648-9464-DB0F494C2DC2}"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593662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950720"/>
            <a:ext cx="11796712" cy="6827520"/>
          </a:xfrm>
        </p:spPr>
        <p:txBody>
          <a:bodyPr anchor="b"/>
          <a:lstStyle>
            <a:lvl1pPr>
              <a:defRPr sz="12800"/>
            </a:lvl1pPr>
          </a:lstStyle>
          <a:p>
            <a:r>
              <a:rPr lang="en-US"/>
              <a:t>Click to edit Master title style</a:t>
            </a:r>
          </a:p>
        </p:txBody>
      </p:sp>
      <p:sp>
        <p:nvSpPr>
          <p:cNvPr id="3" name="Content Placeholder 2"/>
          <p:cNvSpPr>
            <a:spLocks noGrp="1"/>
          </p:cNvSpPr>
          <p:nvPr>
            <p:ph idx="1"/>
          </p:nvPr>
        </p:nvSpPr>
        <p:spPr>
          <a:xfrm>
            <a:off x="15549564" y="4213020"/>
            <a:ext cx="18516600" cy="2079413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19364" y="8778240"/>
            <a:ext cx="11796712" cy="16262775"/>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Edit Master text styles</a:t>
            </a:r>
          </a:p>
        </p:txBody>
      </p:sp>
      <p:sp>
        <p:nvSpPr>
          <p:cNvPr id="5" name="Date Placeholder 4"/>
          <p:cNvSpPr>
            <a:spLocks noGrp="1"/>
          </p:cNvSpPr>
          <p:nvPr>
            <p:ph type="dt" sz="half" idx="10"/>
          </p:nvPr>
        </p:nvSpPr>
        <p:spPr/>
        <p:txBody>
          <a:bodyPr/>
          <a:lstStyle/>
          <a:p>
            <a:fld id="{651A4ED9-8B4C-0648-9464-DB0F494C2DC2}"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517321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950720"/>
            <a:ext cx="11796712" cy="6827520"/>
          </a:xfrm>
        </p:spPr>
        <p:txBody>
          <a:bodyPr anchor="b"/>
          <a:lstStyle>
            <a:lvl1pPr>
              <a:defRPr sz="12800"/>
            </a:lvl1pPr>
          </a:lstStyle>
          <a:p>
            <a:r>
              <a:rPr lang="en-US"/>
              <a:t>Click to edit Master title style</a:t>
            </a:r>
          </a:p>
        </p:txBody>
      </p:sp>
      <p:sp>
        <p:nvSpPr>
          <p:cNvPr id="3" name="Picture Placeholder 2"/>
          <p:cNvSpPr>
            <a:spLocks noGrp="1" noChangeAspect="1"/>
          </p:cNvSpPr>
          <p:nvPr>
            <p:ph type="pic" idx="1"/>
          </p:nvPr>
        </p:nvSpPr>
        <p:spPr>
          <a:xfrm>
            <a:off x="15549564" y="4213020"/>
            <a:ext cx="18516600" cy="20794133"/>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p>
        </p:txBody>
      </p:sp>
      <p:sp>
        <p:nvSpPr>
          <p:cNvPr id="4" name="Text Placeholder 3"/>
          <p:cNvSpPr>
            <a:spLocks noGrp="1"/>
          </p:cNvSpPr>
          <p:nvPr>
            <p:ph type="body" sz="half" idx="2"/>
          </p:nvPr>
        </p:nvSpPr>
        <p:spPr>
          <a:xfrm>
            <a:off x="2519364" y="8778240"/>
            <a:ext cx="11796712" cy="16262775"/>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Edit Master text styles</a:t>
            </a:r>
          </a:p>
        </p:txBody>
      </p:sp>
      <p:sp>
        <p:nvSpPr>
          <p:cNvPr id="5" name="Date Placeholder 4"/>
          <p:cNvSpPr>
            <a:spLocks noGrp="1"/>
          </p:cNvSpPr>
          <p:nvPr>
            <p:ph type="dt" sz="half" idx="10"/>
          </p:nvPr>
        </p:nvSpPr>
        <p:spPr/>
        <p:txBody>
          <a:bodyPr/>
          <a:lstStyle/>
          <a:p>
            <a:fld id="{651A4ED9-8B4C-0648-9464-DB0F494C2DC2}"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2004864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1A4ED9-8B4C-0648-9464-DB0F494C2DC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773303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557867"/>
            <a:ext cx="7886700" cy="247971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14602" y="1557867"/>
            <a:ext cx="23202900" cy="247971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1A4ED9-8B4C-0648-9464-DB0F494C2DC2}"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B861D-EB3B-FB4B-8160-CA00471CEC91}" type="slidenum">
              <a:rPr lang="en-US" smtClean="0"/>
              <a:t>‹#›</a:t>
            </a:fld>
            <a:endParaRPr lang="en-US"/>
          </a:p>
        </p:txBody>
      </p:sp>
    </p:spTree>
    <p:extLst>
      <p:ext uri="{BB962C8B-B14F-4D97-AF65-F5344CB8AC3E}">
        <p14:creationId xmlns:p14="http://schemas.microsoft.com/office/powerpoint/2010/main" val="348740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557873"/>
            <a:ext cx="31546800" cy="565573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14600" y="7789333"/>
            <a:ext cx="31546800" cy="1856570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14600" y="27120433"/>
            <a:ext cx="8229600" cy="1557867"/>
          </a:xfrm>
          <a:prstGeom prst="rect">
            <a:avLst/>
          </a:prstGeom>
        </p:spPr>
        <p:txBody>
          <a:bodyPr vert="horz" lIns="91440" tIns="45720" rIns="91440" bIns="45720" rtlCol="0" anchor="ctr"/>
          <a:lstStyle>
            <a:lvl1pPr algn="l">
              <a:defRPr sz="4800">
                <a:solidFill>
                  <a:schemeClr val="tx1">
                    <a:tint val="75000"/>
                  </a:schemeClr>
                </a:solidFill>
              </a:defRPr>
            </a:lvl1pPr>
          </a:lstStyle>
          <a:p>
            <a:fld id="{651A4ED9-8B4C-0648-9464-DB0F494C2DC2}" type="datetimeFigureOut">
              <a:rPr lang="en-US" smtClean="0"/>
              <a:t>4/17/2026</a:t>
            </a:fld>
            <a:endParaRPr lang="en-US"/>
          </a:p>
        </p:txBody>
      </p:sp>
      <p:sp>
        <p:nvSpPr>
          <p:cNvPr id="5" name="Footer Placeholder 4"/>
          <p:cNvSpPr>
            <a:spLocks noGrp="1"/>
          </p:cNvSpPr>
          <p:nvPr>
            <p:ph type="ftr" sz="quarter" idx="3"/>
          </p:nvPr>
        </p:nvSpPr>
        <p:spPr>
          <a:xfrm>
            <a:off x="12115800" y="27120433"/>
            <a:ext cx="12344400" cy="1557867"/>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27120433"/>
            <a:ext cx="8229600" cy="1557867"/>
          </a:xfrm>
          <a:prstGeom prst="rect">
            <a:avLst/>
          </a:prstGeom>
        </p:spPr>
        <p:txBody>
          <a:bodyPr vert="horz" lIns="91440" tIns="45720" rIns="91440" bIns="45720" rtlCol="0" anchor="ctr"/>
          <a:lstStyle>
            <a:lvl1pPr algn="r">
              <a:defRPr sz="4800">
                <a:solidFill>
                  <a:schemeClr val="tx1">
                    <a:tint val="75000"/>
                  </a:schemeClr>
                </a:solidFill>
              </a:defRPr>
            </a:lvl1pPr>
          </a:lstStyle>
          <a:p>
            <a:fld id="{507B861D-EB3B-FB4B-8160-CA00471CEC91}" type="slidenum">
              <a:rPr lang="en-US" smtClean="0"/>
              <a:t>‹#›</a:t>
            </a:fld>
            <a:endParaRPr lang="en-US"/>
          </a:p>
        </p:txBody>
      </p:sp>
    </p:spTree>
    <p:extLst>
      <p:ext uri="{BB962C8B-B14F-4D97-AF65-F5344CB8AC3E}">
        <p14:creationId xmlns:p14="http://schemas.microsoft.com/office/powerpoint/2010/main" val="66492489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jpeg"/><Relationship Id="rId3" Type="http://schemas.openxmlformats.org/officeDocument/2006/relationships/image" Target="../media/image1.png"/><Relationship Id="rId7" Type="http://schemas.openxmlformats.org/officeDocument/2006/relationships/hyperlink" Target="https://leafletjs.com/" TargetMode="External"/><Relationship Id="rId12"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postgis.net/documentation" TargetMode="External"/><Relationship Id="rId11" Type="http://schemas.openxmlformats.org/officeDocument/2006/relationships/image" Target="../media/image6.svg"/><Relationship Id="rId5" Type="http://schemas.openxmlformats.org/officeDocument/2006/relationships/hyperlink" Target="https://docs.pgrouting.org/" TargetMode="External"/><Relationship Id="rId15" Type="http://schemas.openxmlformats.org/officeDocument/2006/relationships/image" Target="../media/image10.png"/><Relationship Id="rId10" Type="http://schemas.openxmlformats.org/officeDocument/2006/relationships/image" Target="../media/image5.svg"/><Relationship Id="rId4" Type="http://schemas.openxmlformats.org/officeDocument/2006/relationships/image" Target="../media/image2.png"/><Relationship Id="rId9" Type="http://schemas.openxmlformats.org/officeDocument/2006/relationships/image" Target="../media/image4.svg"/><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36569-5EF4-BF2B-3548-45B012CC51EB}"/>
            </a:ext>
          </a:extLst>
        </p:cNvPr>
        <p:cNvGrpSpPr/>
        <p:nvPr/>
      </p:nvGrpSpPr>
      <p:grpSpPr>
        <a:xfrm>
          <a:off x="0" y="0"/>
          <a:ext cx="0" cy="0"/>
          <a:chOff x="0" y="0"/>
          <a:chExt cx="0" cy="0"/>
        </a:xfrm>
      </p:grpSpPr>
      <p:pic>
        <p:nvPicPr>
          <p:cNvPr id="17" name="Picture 16" descr="A screenshot of a map&#10;&#10;AI-generated content may be incorrect.">
            <a:extLst>
              <a:ext uri="{FF2B5EF4-FFF2-40B4-BE49-F238E27FC236}">
                <a16:creationId xmlns:a16="http://schemas.microsoft.com/office/drawing/2014/main" id="{C5042EFE-ED0D-1533-5572-21A22FDA6BF6}"/>
              </a:ext>
            </a:extLst>
          </p:cNvPr>
          <p:cNvPicPr>
            <a:picLocks noChangeAspect="1"/>
          </p:cNvPicPr>
          <p:nvPr/>
        </p:nvPicPr>
        <p:blipFill>
          <a:blip r:embed="rId3"/>
          <a:srcRect t="11653" b="8349"/>
          <a:stretch>
            <a:fillRect/>
          </a:stretch>
        </p:blipFill>
        <p:spPr>
          <a:xfrm>
            <a:off x="18243992" y="8077462"/>
            <a:ext cx="4367994" cy="6801919"/>
          </a:xfrm>
          <a:prstGeom prst="rect">
            <a:avLst/>
          </a:prstGeom>
        </p:spPr>
      </p:pic>
      <p:pic>
        <p:nvPicPr>
          <p:cNvPr id="9" name="Picture 8" descr="A screenshot of a map&#10;&#10;AI-generated content may be incorrect.">
            <a:extLst>
              <a:ext uri="{FF2B5EF4-FFF2-40B4-BE49-F238E27FC236}">
                <a16:creationId xmlns:a16="http://schemas.microsoft.com/office/drawing/2014/main" id="{7F361502-865A-D493-DB20-6E1B7835725B}"/>
              </a:ext>
            </a:extLst>
          </p:cNvPr>
          <p:cNvPicPr>
            <a:picLocks noChangeAspect="1"/>
          </p:cNvPicPr>
          <p:nvPr/>
        </p:nvPicPr>
        <p:blipFill>
          <a:blip r:embed="rId4"/>
          <a:srcRect t="11614" b="8484"/>
          <a:stretch>
            <a:fillRect/>
          </a:stretch>
        </p:blipFill>
        <p:spPr>
          <a:xfrm>
            <a:off x="13456507" y="8077462"/>
            <a:ext cx="4357018" cy="6801919"/>
          </a:xfrm>
          <a:prstGeom prst="rect">
            <a:avLst/>
          </a:prstGeom>
        </p:spPr>
      </p:pic>
      <p:sp>
        <p:nvSpPr>
          <p:cNvPr id="4" name="TextBox 3">
            <a:extLst>
              <a:ext uri="{FF2B5EF4-FFF2-40B4-BE49-F238E27FC236}">
                <a16:creationId xmlns:a16="http://schemas.microsoft.com/office/drawing/2014/main" id="{31DE8178-79C5-6FE0-3EE2-703D86B44671}"/>
              </a:ext>
            </a:extLst>
          </p:cNvPr>
          <p:cNvSpPr txBox="1"/>
          <p:nvPr/>
        </p:nvSpPr>
        <p:spPr>
          <a:xfrm>
            <a:off x="2310278" y="780719"/>
            <a:ext cx="31830876" cy="2985433"/>
          </a:xfrm>
          <a:prstGeom prst="rect">
            <a:avLst/>
          </a:prstGeom>
          <a:solidFill>
            <a:srgbClr val="990000"/>
          </a:solidFill>
          <a:ln>
            <a:solidFill>
              <a:schemeClr val="tx1"/>
            </a:solidFill>
          </a:ln>
        </p:spPr>
        <p:txBody>
          <a:bodyPr wrap="square" lIns="1371600" rIns="13716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a:ln>
                  <a:noFill/>
                </a:ln>
                <a:solidFill>
                  <a:prstClr val="white"/>
                </a:solidFill>
                <a:effectLst/>
                <a:uLnTx/>
                <a:uFillTx/>
                <a:latin typeface="Calibri"/>
                <a:ea typeface="+mn-ea"/>
                <a:cs typeface="+mn-cs"/>
              </a:rPr>
              <a:t>Lost Grenadiers: IU Southeast Campus Navigation System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prstClr val="white"/>
                </a:solidFill>
                <a:effectLst/>
                <a:uLnTx/>
                <a:uFillTx/>
                <a:latin typeface="Calibri"/>
                <a:ea typeface="+mn-ea"/>
                <a:cs typeface="+mn-cs"/>
              </a:rPr>
              <a:t>Audrey Dickson, Kaden Langford, Andrew Swartz – IUS Computer Science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a:ln>
                  <a:noFill/>
                </a:ln>
                <a:solidFill>
                  <a:prstClr val="white"/>
                </a:solidFill>
                <a:effectLst/>
                <a:uLnTx/>
                <a:uFillTx/>
                <a:latin typeface="Calibri"/>
                <a:ea typeface="+mn-ea"/>
                <a:cs typeface="+mn-cs"/>
              </a:rPr>
              <a:t>Faculty Advisor: Chris Sexton</a:t>
            </a:r>
          </a:p>
        </p:txBody>
      </p:sp>
      <p:sp>
        <p:nvSpPr>
          <p:cNvPr id="5" name="TextBox 4">
            <a:extLst>
              <a:ext uri="{FF2B5EF4-FFF2-40B4-BE49-F238E27FC236}">
                <a16:creationId xmlns:a16="http://schemas.microsoft.com/office/drawing/2014/main" id="{A7F55BBA-914E-7CF4-F17F-B7583CADABDD}"/>
              </a:ext>
            </a:extLst>
          </p:cNvPr>
          <p:cNvSpPr txBox="1"/>
          <p:nvPr/>
        </p:nvSpPr>
        <p:spPr>
          <a:xfrm>
            <a:off x="2334007" y="5974500"/>
            <a:ext cx="9250323" cy="5632311"/>
          </a:xfrm>
          <a:prstGeom prst="rect">
            <a:avLst/>
          </a:prstGeom>
          <a:noFill/>
          <a:ln>
            <a:noFill/>
          </a:ln>
        </p:spPr>
        <p:txBody>
          <a:bodyPr wrap="square" lIns="91440" tIns="45720" rIns="91440" bIns="45720" rtlCol="0"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Finding your way around a university campus for the first time isn’t always straightforward. Wrong turns, unmarked buildings, and confusing room numbers can quickly overwhelm new students, parents, and other guests. The Lost Grenadiers campus navigation system was built to address this problem specifically for Indiana University Southeast. The system uses a Leaflet.js frontend, Flask API, and PostgreSQL/</a:t>
            </a:r>
            <a:r>
              <a:rPr kumimoji="0" lang="en-US" sz="3000" b="0" i="0" u="none" strike="noStrike" kern="1200" cap="none" spc="0" normalizeH="0" baseline="0" noProof="0" err="1">
                <a:ln>
                  <a:noFill/>
                </a:ln>
                <a:solidFill>
                  <a:prstClr val="black"/>
                </a:solidFill>
                <a:effectLst/>
                <a:uLnTx/>
                <a:uFillTx/>
                <a:latin typeface="Calibri"/>
                <a:ea typeface="+mn-ea"/>
                <a:cs typeface="+mn-cs"/>
              </a:rPr>
              <a:t>pgRouting</a:t>
            </a:r>
            <a:r>
              <a:rPr kumimoji="0" lang="en-US" sz="3000" b="0" i="0" u="none" strike="noStrike" kern="1200" cap="none" spc="0" normalizeH="0" baseline="0" noProof="0">
                <a:ln>
                  <a:noFill/>
                </a:ln>
                <a:solidFill>
                  <a:prstClr val="black"/>
                </a:solidFill>
                <a:effectLst/>
                <a:uLnTx/>
                <a:uFillTx/>
                <a:latin typeface="Calibri"/>
                <a:ea typeface="+mn-ea"/>
                <a:cs typeface="+mn-cs"/>
              </a:rPr>
              <a:t> backend to calculate optimal routes between any two points on campus using Dijkstra’s algorithm, with support for accessible path filtering. All communications are encrypted and routing queries are protected against injection attacks.</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664E396D-DBC6-E3E2-3A7F-A4760F8E9383}"/>
              </a:ext>
            </a:extLst>
          </p:cNvPr>
          <p:cNvSpPr txBox="1"/>
          <p:nvPr/>
        </p:nvSpPr>
        <p:spPr>
          <a:xfrm>
            <a:off x="2385062" y="21283371"/>
            <a:ext cx="9263168" cy="2400657"/>
          </a:xfrm>
          <a:prstGeom prst="rect">
            <a:avLst/>
          </a:prstGeom>
          <a:noFill/>
          <a:ln>
            <a:noFill/>
          </a:ln>
        </p:spPr>
        <p:txBody>
          <a:bodyPr wrap="square" lIns="91440" tIns="45720" rIns="91440" bIns="45720" rtlCol="0"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Live routing across campus is shown above through navigation to a specific room, LF-210. The route is generated in real time using the user's GPS position, combining outdoor and indoor navigation into a single continuous path.</a:t>
            </a:r>
            <a:endParaRPr kumimoji="0" lang="en-US" sz="3000" b="0" i="0" u="none" strike="noStrike" kern="1200" cap="none" spc="0" normalizeH="0" baseline="0" noProof="0">
              <a:ln>
                <a:noFill/>
              </a:ln>
              <a:solidFill>
                <a:prstClr val="black"/>
              </a:solidFill>
              <a:effectLst/>
              <a:uLnTx/>
              <a:uFillTx/>
              <a:latin typeface="Calibri"/>
              <a:ea typeface="Calibri"/>
              <a:cs typeface="Calibri"/>
            </a:endParaRPr>
          </a:p>
        </p:txBody>
      </p:sp>
      <p:sp>
        <p:nvSpPr>
          <p:cNvPr id="7" name="TextBox 6">
            <a:extLst>
              <a:ext uri="{FF2B5EF4-FFF2-40B4-BE49-F238E27FC236}">
                <a16:creationId xmlns:a16="http://schemas.microsoft.com/office/drawing/2014/main" id="{B3850440-E7C7-6C56-DE80-038DA855777E}"/>
              </a:ext>
            </a:extLst>
          </p:cNvPr>
          <p:cNvSpPr txBox="1"/>
          <p:nvPr/>
        </p:nvSpPr>
        <p:spPr>
          <a:xfrm>
            <a:off x="24694941" y="6330468"/>
            <a:ext cx="9268762" cy="3323987"/>
          </a:xfrm>
          <a:prstGeom prst="rect">
            <a:avLst/>
          </a:prstGeom>
          <a:noFill/>
          <a:ln>
            <a:noFill/>
          </a:ln>
        </p:spPr>
        <p:txBody>
          <a:bodyPr wrap="square" lIns="91440" tIns="45720" rIns="91440" bIns="45720" rtlCol="0"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black"/>
                </a:solidFill>
                <a:effectLst/>
                <a:uLnTx/>
                <a:uFillTx/>
                <a:latin typeface="Calibri"/>
                <a:ea typeface="Calibri"/>
                <a:cs typeface="Calibri"/>
              </a:rPr>
              <a:t>Campus is represented as a graph structure with nodes (buildings, entrances, hallways, rooms) and edges (walkable connections between nodes).</a:t>
            </a: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Arial"/>
              <a:buChar char="•"/>
              <a:tabLst/>
              <a:defRPr/>
            </a:pPr>
            <a:r>
              <a:rPr kumimoji="0" lang="en-US" sz="3000" b="0" i="0" u="none" strike="noStrike" kern="1200" cap="none" spc="0" normalizeH="0" baseline="0" noProof="0">
                <a:ln>
                  <a:noFill/>
                </a:ln>
                <a:solidFill>
                  <a:prstClr val="black"/>
                </a:solidFill>
                <a:effectLst/>
                <a:uLnTx/>
                <a:uFillTx/>
                <a:latin typeface="Calibri"/>
                <a:ea typeface="Calibri"/>
                <a:cs typeface="Calibri"/>
              </a:rPr>
              <a:t>Supports indoor and outdoor integration</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285750" marR="0" lvl="0" indent="-285750" algn="just" defTabSz="457200" rtl="0" eaLnBrk="1" fontAlgn="auto" latinLnBrk="0" hangingPunct="1">
              <a:lnSpc>
                <a:spcPct val="100000"/>
              </a:lnSpc>
              <a:spcBef>
                <a:spcPts val="0"/>
              </a:spcBef>
              <a:spcAft>
                <a:spcPts val="0"/>
              </a:spcAft>
              <a:buClrTx/>
              <a:buSzTx/>
              <a:buFont typeface="Arial"/>
              <a:buChar char="•"/>
              <a:tabLst/>
              <a:defRPr/>
            </a:pPr>
            <a:r>
              <a:rPr kumimoji="0" lang="en-US" sz="3000" b="0" i="0" u="none" strike="noStrike" kern="1200" cap="none" spc="0" normalizeH="0" baseline="0" noProof="0">
                <a:ln>
                  <a:noFill/>
                </a:ln>
                <a:solidFill>
                  <a:prstClr val="black"/>
                </a:solidFill>
                <a:effectLst/>
                <a:uLnTx/>
                <a:uFillTx/>
                <a:latin typeface="Calibri"/>
                <a:ea typeface="Calibri"/>
                <a:cs typeface="Calibri"/>
              </a:rPr>
              <a:t>Built using real campus geometry</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285750" marR="0" lvl="0" indent="-285750" algn="just" defTabSz="457200" rtl="0" eaLnBrk="1" fontAlgn="auto" latinLnBrk="0" hangingPunct="1">
              <a:lnSpc>
                <a:spcPct val="100000"/>
              </a:lnSpc>
              <a:spcBef>
                <a:spcPts val="0"/>
              </a:spcBef>
              <a:spcAft>
                <a:spcPts val="0"/>
              </a:spcAft>
              <a:buClrTx/>
              <a:buSzTx/>
              <a:buFont typeface="Arial"/>
              <a:buChar char="•"/>
              <a:tabLst/>
              <a:defRPr/>
            </a:pPr>
            <a:r>
              <a:rPr kumimoji="0" lang="en-US" sz="3000" b="0" i="0" u="none" strike="noStrike" kern="1200" cap="none" spc="0" normalizeH="0" baseline="0" noProof="0">
                <a:ln>
                  <a:noFill/>
                </a:ln>
                <a:solidFill>
                  <a:prstClr val="black"/>
                </a:solidFill>
                <a:effectLst/>
                <a:uLnTx/>
                <a:uFillTx/>
                <a:latin typeface="Calibri"/>
                <a:ea typeface="Calibri"/>
                <a:cs typeface="Calibri"/>
              </a:rPr>
              <a:t>Enables direct use of Dijkstra's algorithm (optimal paths)</a:t>
            </a: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Calibri"/>
              <a:ea typeface="Calibri"/>
              <a:cs typeface="Calibri"/>
            </a:endParaRPr>
          </a:p>
        </p:txBody>
      </p:sp>
      <p:sp>
        <p:nvSpPr>
          <p:cNvPr id="8" name="TextBox 7">
            <a:extLst>
              <a:ext uri="{FF2B5EF4-FFF2-40B4-BE49-F238E27FC236}">
                <a16:creationId xmlns:a16="http://schemas.microsoft.com/office/drawing/2014/main" id="{C7F3772F-D546-B28A-717E-A96EC15A6C1D}"/>
              </a:ext>
            </a:extLst>
          </p:cNvPr>
          <p:cNvSpPr txBox="1"/>
          <p:nvPr/>
        </p:nvSpPr>
        <p:spPr>
          <a:xfrm>
            <a:off x="24712876" y="22485472"/>
            <a:ext cx="10463788" cy="5016758"/>
          </a:xfrm>
          <a:prstGeom prst="rect">
            <a:avLst/>
          </a:prstGeom>
          <a:noFill/>
          <a:ln>
            <a:solidFill>
              <a:schemeClr val="bg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mn-ea"/>
                <a:cs typeface="+mn-cs"/>
              </a:rPr>
              <a:t>References</a:t>
            </a:r>
          </a:p>
          <a:p>
            <a:pPr marL="457200" marR="0" lvl="0" indent="-457200" algn="l"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err="1">
                <a:ln>
                  <a:noFill/>
                </a:ln>
                <a:solidFill>
                  <a:prstClr val="black"/>
                </a:solidFill>
                <a:effectLst/>
                <a:uLnTx/>
                <a:uFillTx/>
                <a:latin typeface="Calibri"/>
                <a:ea typeface="+mn-ea"/>
                <a:cs typeface="+mn-cs"/>
              </a:rPr>
              <a:t>pgRouting</a:t>
            </a:r>
            <a:r>
              <a:rPr kumimoji="0" lang="en-US" sz="3000" b="0" i="0" u="none" strike="noStrike" kern="1200" cap="none" spc="0" normalizeH="0" baseline="0" noProof="0">
                <a:ln>
                  <a:noFill/>
                </a:ln>
                <a:solidFill>
                  <a:prstClr val="black"/>
                </a:solidFill>
                <a:effectLst/>
                <a:uLnTx/>
                <a:uFillTx/>
                <a:latin typeface="Calibri"/>
                <a:ea typeface="+mn-ea"/>
                <a:cs typeface="+mn-cs"/>
              </a:rPr>
              <a:t> Project. (2025). </a:t>
            </a:r>
            <a:r>
              <a:rPr kumimoji="0" lang="en-US" sz="3000" b="0" i="1" u="none" strike="noStrike" kern="1200" cap="none" spc="0" normalizeH="0" baseline="0" noProof="0" err="1">
                <a:ln>
                  <a:noFill/>
                </a:ln>
                <a:solidFill>
                  <a:prstClr val="black"/>
                </a:solidFill>
                <a:effectLst/>
                <a:uLnTx/>
                <a:uFillTx/>
                <a:latin typeface="Calibri"/>
                <a:ea typeface="+mn-ea"/>
                <a:cs typeface="+mn-cs"/>
              </a:rPr>
              <a:t>pgRouting</a:t>
            </a:r>
            <a:r>
              <a:rPr kumimoji="0" lang="en-US" sz="3000" b="0" i="1" u="none" strike="noStrike" kern="1200" cap="none" spc="0" normalizeH="0" baseline="0" noProof="0">
                <a:ln>
                  <a:noFill/>
                </a:ln>
                <a:solidFill>
                  <a:prstClr val="black"/>
                </a:solidFill>
                <a:effectLst/>
                <a:uLnTx/>
                <a:uFillTx/>
                <a:latin typeface="Calibri"/>
                <a:ea typeface="+mn-ea"/>
                <a:cs typeface="+mn-cs"/>
              </a:rPr>
              <a:t> 4.0 documentation.</a:t>
            </a:r>
            <a:r>
              <a:rPr kumimoji="0" lang="en-US" sz="3000" b="0" i="0" u="none" strike="noStrike" kern="1200" cap="none" spc="0" normalizeH="0" baseline="0" noProof="0">
                <a:ln>
                  <a:noFill/>
                </a:ln>
                <a:solidFill>
                  <a:prstClr val="black"/>
                </a:solidFill>
                <a:effectLst/>
                <a:uLnTx/>
                <a:uFillTx/>
                <a:latin typeface="Calibri"/>
                <a:ea typeface="+mn-ea"/>
                <a:cs typeface="+mn-cs"/>
              </a:rPr>
              <a:t>. Retrieved from </a:t>
            </a:r>
            <a:r>
              <a:rPr kumimoji="0" lang="en-US" sz="3000" b="0" i="0" u="none" strike="noStrike" kern="1200" cap="none" spc="0" normalizeH="0" baseline="0" noProof="0">
                <a:ln>
                  <a:noFill/>
                </a:ln>
                <a:solidFill>
                  <a:prstClr val="black"/>
                </a:solidFill>
                <a:effectLst/>
                <a:uLnTx/>
                <a:uFillTx/>
                <a:latin typeface="Calibri"/>
                <a:ea typeface="+mn-ea"/>
                <a:cs typeface="+mn-cs"/>
                <a:hlinkClick r:id="rId5"/>
              </a:rPr>
              <a:t>https://docs.pgrouting.org</a:t>
            </a:r>
            <a:endParaRPr kumimoji="0" lang="en-US" sz="3000" b="0" i="0" u="none" strike="noStrike" kern="1200" cap="none" spc="0" normalizeH="0" baseline="0" noProof="0">
              <a:ln>
                <a:noFill/>
              </a:ln>
              <a:solidFill>
                <a:prstClr val="black"/>
              </a:solidFill>
              <a:effectLst/>
              <a:uLnTx/>
              <a:uFillTx/>
              <a:latin typeface="Calibri"/>
              <a:ea typeface="+mn-ea"/>
              <a:cs typeface="+mn-cs"/>
            </a:endParaRPr>
          </a:p>
          <a:p>
            <a:pPr marL="457200" marR="0" lvl="0" indent="-457200" algn="l"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err="1">
                <a:ln>
                  <a:noFill/>
                </a:ln>
                <a:solidFill>
                  <a:prstClr val="black"/>
                </a:solidFill>
                <a:effectLst/>
                <a:uLnTx/>
                <a:uFillTx/>
                <a:latin typeface="Calibri"/>
                <a:ea typeface="+mn-ea"/>
                <a:cs typeface="+mn-cs"/>
              </a:rPr>
              <a:t>PostGIS</a:t>
            </a:r>
            <a:r>
              <a:rPr kumimoji="0" lang="en-US" sz="3000" b="0" i="0" u="none" strike="noStrike" kern="1200" cap="none" spc="0" normalizeH="0" baseline="0" noProof="0">
                <a:ln>
                  <a:noFill/>
                </a:ln>
                <a:solidFill>
                  <a:prstClr val="black"/>
                </a:solidFill>
                <a:effectLst/>
                <a:uLnTx/>
                <a:uFillTx/>
                <a:latin typeface="Calibri"/>
                <a:ea typeface="+mn-ea"/>
                <a:cs typeface="+mn-cs"/>
              </a:rPr>
              <a:t> Development Group. (2026). </a:t>
            </a:r>
            <a:r>
              <a:rPr kumimoji="0" lang="en-US" sz="3000" b="0" i="1" u="none" strike="noStrike" kern="1200" cap="none" spc="0" normalizeH="0" baseline="0" noProof="0" err="1">
                <a:ln>
                  <a:noFill/>
                </a:ln>
                <a:solidFill>
                  <a:prstClr val="black"/>
                </a:solidFill>
                <a:effectLst/>
                <a:uLnTx/>
                <a:uFillTx/>
                <a:latin typeface="Calibri"/>
                <a:ea typeface="+mn-ea"/>
                <a:cs typeface="+mn-cs"/>
              </a:rPr>
              <a:t>PostGIS</a:t>
            </a:r>
            <a:r>
              <a:rPr kumimoji="0" lang="en-US" sz="3000" b="0" i="1" u="none" strike="noStrike" kern="1200" cap="none" spc="0" normalizeH="0" baseline="0" noProof="0">
                <a:ln>
                  <a:noFill/>
                </a:ln>
                <a:solidFill>
                  <a:prstClr val="black"/>
                </a:solidFill>
                <a:effectLst/>
                <a:uLnTx/>
                <a:uFillTx/>
                <a:latin typeface="Calibri"/>
                <a:ea typeface="+mn-ea"/>
                <a:cs typeface="+mn-cs"/>
              </a:rPr>
              <a:t> 3.6 documentation</a:t>
            </a:r>
            <a:r>
              <a:rPr kumimoji="0" lang="en-US" sz="3000" b="0" i="0" u="none" strike="noStrike" kern="1200" cap="none" spc="0" normalizeH="0" baseline="0" noProof="0">
                <a:ln>
                  <a:noFill/>
                </a:ln>
                <a:solidFill>
                  <a:prstClr val="black"/>
                </a:solidFill>
                <a:effectLst/>
                <a:uLnTx/>
                <a:uFillTx/>
                <a:latin typeface="Calibri"/>
                <a:ea typeface="+mn-ea"/>
                <a:cs typeface="+mn-cs"/>
              </a:rPr>
              <a:t>. Retrieved from </a:t>
            </a:r>
            <a:r>
              <a:rPr kumimoji="0" lang="en-US" sz="3000" b="0" i="0" u="none" strike="noStrike" kern="1200" cap="none" spc="0" normalizeH="0" baseline="0" noProof="0">
                <a:ln>
                  <a:noFill/>
                </a:ln>
                <a:solidFill>
                  <a:prstClr val="black"/>
                </a:solidFill>
                <a:effectLst/>
                <a:uLnTx/>
                <a:uFillTx/>
                <a:latin typeface="Calibri"/>
                <a:ea typeface="+mn-ea"/>
                <a:cs typeface="+mn-cs"/>
                <a:hlinkClick r:id="rId6"/>
              </a:rPr>
              <a:t>https://postgis.net/documentation</a:t>
            </a:r>
            <a:endParaRPr kumimoji="0" lang="en-US" sz="3000" b="0" i="0" u="none" strike="noStrike" kern="1200" cap="none" spc="0" normalizeH="0" baseline="0" noProof="0">
              <a:ln>
                <a:noFill/>
              </a:ln>
              <a:solidFill>
                <a:prstClr val="black"/>
              </a:solidFill>
              <a:effectLst/>
              <a:uLnTx/>
              <a:uFillTx/>
              <a:latin typeface="Calibri"/>
              <a:ea typeface="+mn-ea"/>
              <a:cs typeface="+mn-cs"/>
            </a:endParaRPr>
          </a:p>
          <a:p>
            <a:pPr marL="457200" marR="0" lvl="0" indent="-457200" algn="l"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Leaflet Contributors. (2025). </a:t>
            </a:r>
            <a:r>
              <a:rPr kumimoji="0" lang="en-US" sz="3000" b="0" i="1" u="none" strike="noStrike" kern="1200" cap="none" spc="0" normalizeH="0" baseline="0" noProof="0">
                <a:ln>
                  <a:noFill/>
                </a:ln>
                <a:solidFill>
                  <a:prstClr val="black"/>
                </a:solidFill>
                <a:effectLst/>
                <a:uLnTx/>
                <a:uFillTx/>
                <a:latin typeface="Calibri"/>
                <a:ea typeface="+mn-ea"/>
                <a:cs typeface="+mn-cs"/>
              </a:rPr>
              <a:t>Leaflet 1.9.4 documentation</a:t>
            </a:r>
            <a:r>
              <a:rPr kumimoji="0" lang="en-US" sz="3000" b="0" i="0" u="none" strike="noStrike" kern="1200" cap="none" spc="0" normalizeH="0" baseline="0" noProof="0">
                <a:ln>
                  <a:noFill/>
                </a:ln>
                <a:solidFill>
                  <a:prstClr val="black"/>
                </a:solidFill>
                <a:effectLst/>
                <a:uLnTx/>
                <a:uFillTx/>
                <a:latin typeface="Calibri"/>
                <a:ea typeface="+mn-ea"/>
                <a:cs typeface="+mn-cs"/>
              </a:rPr>
              <a:t>. Retrieved from </a:t>
            </a:r>
            <a:r>
              <a:rPr kumimoji="0" lang="en-US" sz="3000" b="0" i="0" u="none" strike="noStrike" kern="1200" cap="none" spc="0" normalizeH="0" baseline="0" noProof="0">
                <a:ln>
                  <a:noFill/>
                </a:ln>
                <a:solidFill>
                  <a:prstClr val="black"/>
                </a:solidFill>
                <a:effectLst/>
                <a:uLnTx/>
                <a:uFillTx/>
                <a:latin typeface="Calibri"/>
                <a:ea typeface="+mn-ea"/>
                <a:cs typeface="+mn-cs"/>
                <a:hlinkClick r:id="rId7"/>
              </a:rPr>
              <a:t>https://leafletjs.com</a:t>
            </a:r>
            <a:r>
              <a:rPr kumimoji="0" lang="en-US" sz="3000" b="0" i="0" u="none" strike="noStrike" kern="1200" cap="none" spc="0" normalizeH="0" baseline="0" noProof="0">
                <a:ln>
                  <a:noFill/>
                </a:ln>
                <a:solidFill>
                  <a:prstClr val="black"/>
                </a:solidFill>
                <a:effectLst/>
                <a:uLnTx/>
                <a:uFillTx/>
                <a:latin typeface="Calibri"/>
                <a:ea typeface="+mn-ea"/>
                <a:cs typeface="+mn-cs"/>
              </a:rPr>
              <a:t>.</a:t>
            </a:r>
          </a:p>
          <a:p>
            <a:pPr marL="457200" marR="0" lvl="0" indent="-457200" algn="l"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Internet Security Research Group. (2025). </a:t>
            </a:r>
            <a:r>
              <a:rPr kumimoji="0" lang="en-US" sz="3000" b="0" i="1" u="none" strike="noStrike" kern="1200" cap="none" spc="0" normalizeH="0" baseline="0" noProof="0">
                <a:ln>
                  <a:noFill/>
                </a:ln>
                <a:solidFill>
                  <a:prstClr val="black"/>
                </a:solidFill>
                <a:effectLst/>
                <a:uLnTx/>
                <a:uFillTx/>
                <a:latin typeface="Calibri"/>
                <a:ea typeface="+mn-ea"/>
                <a:cs typeface="+mn-cs"/>
              </a:rPr>
              <a:t>Let’s Encrypt documentation</a:t>
            </a:r>
            <a:r>
              <a:rPr kumimoji="0" lang="en-US" sz="3000" b="0" i="0" u="none" strike="noStrike" kern="1200" cap="none" spc="0" normalizeH="0" baseline="0" noProof="0">
                <a:ln>
                  <a:noFill/>
                </a:ln>
                <a:solidFill>
                  <a:prstClr val="black"/>
                </a:solidFill>
                <a:effectLst/>
                <a:uLnTx/>
                <a:uFillTx/>
                <a:latin typeface="Calibri"/>
                <a:ea typeface="+mn-ea"/>
                <a:cs typeface="+mn-cs"/>
              </a:rPr>
              <a:t>. Retrieved from https://letsencrypt.org/docs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a:extLst>
              <a:ext uri="{FF2B5EF4-FFF2-40B4-BE49-F238E27FC236}">
                <a16:creationId xmlns:a16="http://schemas.microsoft.com/office/drawing/2014/main" id="{7B017376-9691-AE5C-C663-F3B9E13FE0DB}"/>
              </a:ext>
            </a:extLst>
          </p:cNvPr>
          <p:cNvSpPr txBox="1"/>
          <p:nvPr/>
        </p:nvSpPr>
        <p:spPr>
          <a:xfrm>
            <a:off x="13424589" y="15829458"/>
            <a:ext cx="9250342" cy="86177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mn-ea"/>
                <a:cs typeface="+mn-cs"/>
              </a:rPr>
              <a:t>System Architecture</a:t>
            </a:r>
          </a:p>
        </p:txBody>
      </p:sp>
      <p:sp>
        <p:nvSpPr>
          <p:cNvPr id="11" name="TextBox 10">
            <a:extLst>
              <a:ext uri="{FF2B5EF4-FFF2-40B4-BE49-F238E27FC236}">
                <a16:creationId xmlns:a16="http://schemas.microsoft.com/office/drawing/2014/main" id="{714F3125-2A29-11EA-FD6C-9C6D29627ADA}"/>
              </a:ext>
            </a:extLst>
          </p:cNvPr>
          <p:cNvSpPr txBox="1"/>
          <p:nvPr/>
        </p:nvSpPr>
        <p:spPr>
          <a:xfrm>
            <a:off x="24704263" y="15693173"/>
            <a:ext cx="10434862" cy="3631763"/>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mn-ea"/>
                <a:cs typeface="+mn-cs"/>
              </a:rPr>
              <a:t>Results and Discussion</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Fast query response under simulated load</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Accessibility filtering adds minimal overhead</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Challenges and solutions:</a:t>
            </a:r>
          </a:p>
          <a:p>
            <a:pPr marL="914400" marR="0" lvl="1"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Graph integrity solved with topology validation</a:t>
            </a:r>
          </a:p>
          <a:p>
            <a:pPr marL="914400" marR="0" lvl="1"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Indoor routing solved with segmented building graphs</a:t>
            </a:r>
          </a:p>
          <a:p>
            <a:pPr marL="914400" marR="0" lvl="1"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API security solved with rate limiting + input validation</a:t>
            </a:r>
          </a:p>
        </p:txBody>
      </p:sp>
      <p:sp>
        <p:nvSpPr>
          <p:cNvPr id="44" name="Rectangle 43">
            <a:extLst>
              <a:ext uri="{FF2B5EF4-FFF2-40B4-BE49-F238E27FC236}">
                <a16:creationId xmlns:a16="http://schemas.microsoft.com/office/drawing/2014/main" id="{478378D5-CF25-5C55-D272-F019300DDBEB}"/>
              </a:ext>
            </a:extLst>
          </p:cNvPr>
          <p:cNvSpPr/>
          <p:nvPr/>
        </p:nvSpPr>
        <p:spPr>
          <a:xfrm>
            <a:off x="13575949" y="5401501"/>
            <a:ext cx="9250682" cy="2246769"/>
          </a:xfrm>
          <a:prstGeom prst="rect">
            <a:avLst/>
          </a:prstGeom>
        </p:spPr>
        <p:txBody>
          <a:bodyPr wrap="square" lIns="91440" tIns="45720" rIns="9144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mn-ea"/>
                <a:cs typeface="+mn-cs"/>
              </a:rPr>
              <a:t>Accessibility Toggle</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black"/>
                </a:solidFill>
                <a:effectLst/>
                <a:uLnTx/>
                <a:uFillTx/>
                <a:latin typeface="Calibri"/>
                <a:ea typeface="Calibri"/>
                <a:cs typeface="Calibri"/>
              </a:rPr>
              <a:t>Enables accessible routing mode by removing edges containing stairs and prioritizing elevators and ramps, producing a fully accessible shortest path.</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AEC74E90-9687-7BFE-A0D1-0293EE6CA4F1}"/>
              </a:ext>
            </a:extLst>
          </p:cNvPr>
          <p:cNvSpPr txBox="1"/>
          <p:nvPr/>
        </p:nvSpPr>
        <p:spPr>
          <a:xfrm>
            <a:off x="13424608" y="16885677"/>
            <a:ext cx="9250323" cy="3785652"/>
          </a:xfrm>
          <a:prstGeom prst="rect">
            <a:avLst/>
          </a:prstGeom>
          <a:noFill/>
          <a:ln>
            <a:noFill/>
          </a:ln>
        </p:spPr>
        <p:txBody>
          <a:bodyPr wrap="square" lIns="91440" tIns="45720" rIns="91440" bIns="45720" rtlCol="0"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a:ln>
                  <a:noFill/>
                </a:ln>
                <a:solidFill>
                  <a:prstClr val="black"/>
                </a:solidFill>
                <a:effectLst/>
                <a:uLnTx/>
                <a:uFillTx/>
                <a:latin typeface="Calibri"/>
                <a:ea typeface="Calibri"/>
                <a:cs typeface="Calibri"/>
              </a:rPr>
              <a:t>A virtualized </a:t>
            </a:r>
            <a:r>
              <a:rPr kumimoji="0" lang="en-US" sz="3000" b="0" i="0" u="none" strike="noStrike" kern="1200" cap="none" spc="0" normalizeH="0" baseline="0" noProof="0" err="1">
                <a:ln>
                  <a:noFill/>
                </a:ln>
                <a:solidFill>
                  <a:prstClr val="black"/>
                </a:solidFill>
                <a:effectLst/>
                <a:uLnTx/>
                <a:uFillTx/>
                <a:latin typeface="Calibri"/>
                <a:ea typeface="Calibri"/>
                <a:cs typeface="Calibri"/>
              </a:rPr>
              <a:t>Proxmox</a:t>
            </a:r>
            <a:r>
              <a:rPr kumimoji="0" lang="en-US" sz="3000" b="0" i="0" u="none" strike="noStrike" kern="1200" cap="none" spc="0" normalizeH="0" baseline="0" noProof="0">
                <a:ln>
                  <a:noFill/>
                </a:ln>
                <a:solidFill>
                  <a:prstClr val="black"/>
                </a:solidFill>
                <a:effectLst/>
                <a:uLnTx/>
                <a:uFillTx/>
                <a:latin typeface="Calibri"/>
                <a:ea typeface="Calibri"/>
                <a:cs typeface="Calibri"/>
              </a:rPr>
              <a:t> environment hosts a Debian VM running Apache, Flask, and PostgreSQL in an isolated, secure setup. The frontend delivers an interactive Leaflet.js campus map with real-time route display. Routing requests are handled by a Flask API which validates inputs and manages application logic. A PostgreSQL + </a:t>
            </a:r>
            <a:r>
              <a:rPr kumimoji="0" lang="en-US" sz="3000" b="0" i="0" u="none" strike="noStrike" kern="1200" cap="none" spc="0" normalizeH="0" baseline="0" noProof="0" err="1">
                <a:ln>
                  <a:noFill/>
                </a:ln>
                <a:solidFill>
                  <a:prstClr val="black"/>
                </a:solidFill>
                <a:effectLst/>
                <a:uLnTx/>
                <a:uFillTx/>
                <a:latin typeface="Calibri"/>
                <a:ea typeface="Calibri"/>
                <a:cs typeface="Calibri"/>
              </a:rPr>
              <a:t>pgRouting</a:t>
            </a:r>
            <a:r>
              <a:rPr kumimoji="0" lang="en-US" sz="3000" b="0" i="0" u="none" strike="noStrike" kern="1200" cap="none" spc="0" normalizeH="0" baseline="0" noProof="0">
                <a:ln>
                  <a:noFill/>
                </a:ln>
                <a:solidFill>
                  <a:prstClr val="black"/>
                </a:solidFill>
                <a:effectLst/>
                <a:uLnTx/>
                <a:uFillTx/>
                <a:latin typeface="Calibri"/>
                <a:ea typeface="Calibri"/>
                <a:cs typeface="Calibri"/>
              </a:rPr>
              <a:t> database stores all nodes, edges, and building geometry.</a:t>
            </a:r>
            <a:endParaRPr kumimoji="0" lang="en-US" sz="1800" b="0" i="0" u="none" strike="noStrike" kern="1200" cap="none" spc="0" normalizeH="0" baseline="0" noProof="0">
              <a:ln>
                <a:noFill/>
              </a:ln>
              <a:solidFill>
                <a:prstClr val="black"/>
              </a:solidFill>
              <a:effectLst/>
              <a:uLnTx/>
              <a:uFillTx/>
              <a:latin typeface="Calibri"/>
              <a:ea typeface="Calibri"/>
              <a:cs typeface="Calibri"/>
            </a:endParaRPr>
          </a:p>
        </p:txBody>
      </p:sp>
      <p:sp>
        <p:nvSpPr>
          <p:cNvPr id="33" name="TextBox 32">
            <a:extLst>
              <a:ext uri="{FF2B5EF4-FFF2-40B4-BE49-F238E27FC236}">
                <a16:creationId xmlns:a16="http://schemas.microsoft.com/office/drawing/2014/main" id="{745482DD-B4E8-D74E-91A5-DFFDBB65948A}"/>
              </a:ext>
            </a:extLst>
          </p:cNvPr>
          <p:cNvSpPr txBox="1"/>
          <p:nvPr/>
        </p:nvSpPr>
        <p:spPr>
          <a:xfrm>
            <a:off x="25027393" y="19781819"/>
            <a:ext cx="9512933" cy="2246769"/>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mn-ea"/>
                <a:cs typeface="+mn-cs"/>
              </a:rPr>
              <a:t>Future Work</a:t>
            </a:r>
            <a:endParaRPr kumimoji="0" lang="en-US" sz="3000" b="0" i="0" u="none" strike="noStrike" kern="1200" cap="none" spc="0" normalizeH="0" baseline="0" noProof="0">
              <a:ln>
                <a:noFill/>
              </a:ln>
              <a:solidFill>
                <a:prstClr val="black"/>
              </a:solidFill>
              <a:effectLst/>
              <a:uLnTx/>
              <a:uFillTx/>
              <a:latin typeface="Calibri"/>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Deployment on campus infrastructure</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Improve graph editing tools</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Increased node density for higher accuracy</a:t>
            </a:r>
            <a:endParaRPr kumimoji="0" lang="en-US" sz="3000" b="0" i="0" u="none" strike="noStrike" kern="1200" cap="none" spc="0" normalizeH="0" baseline="0" noProof="0">
              <a:ln>
                <a:noFill/>
              </a:ln>
              <a:solidFill>
                <a:prstClr val="black"/>
              </a:solidFill>
              <a:effectLst/>
              <a:uLnTx/>
              <a:uFillTx/>
              <a:latin typeface="Calibri"/>
              <a:ea typeface="Calibri"/>
              <a:cs typeface="Calibri"/>
            </a:endParaRPr>
          </a:p>
        </p:txBody>
      </p:sp>
      <p:pic>
        <p:nvPicPr>
          <p:cNvPr id="2" name="Picture 1" descr="A black background with orange arrows&#10;&#10;AI-generated content may be incorrect.">
            <a:extLst>
              <a:ext uri="{FF2B5EF4-FFF2-40B4-BE49-F238E27FC236}">
                <a16:creationId xmlns:a16="http://schemas.microsoft.com/office/drawing/2014/main" id="{509D196D-DFEB-AADE-622E-11DCD1982F0F}"/>
              </a:ext>
            </a:extLst>
          </p:cNvPr>
          <p:cNvPicPr>
            <a:picLocks noChangeAspect="1"/>
          </p:cNvPicPr>
          <p:nvPr/>
        </p:nvPicPr>
        <p:blipFill>
          <a:blip r:embed="rId8"/>
          <a:stretch>
            <a:fillRect/>
          </a:stretch>
        </p:blipFill>
        <p:spPr>
          <a:xfrm>
            <a:off x="1111505" y="24701401"/>
            <a:ext cx="4032856" cy="4216937"/>
          </a:xfrm>
          <a:prstGeom prst="rect">
            <a:avLst/>
          </a:prstGeom>
        </p:spPr>
      </p:pic>
      <p:pic>
        <p:nvPicPr>
          <p:cNvPr id="3" name="Graphic 2">
            <a:extLst>
              <a:ext uri="{FF2B5EF4-FFF2-40B4-BE49-F238E27FC236}">
                <a16:creationId xmlns:a16="http://schemas.microsoft.com/office/drawing/2014/main" id="{37BB3612-5DB1-7ACE-21DC-688CEE6EECD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42369" y="25395258"/>
            <a:ext cx="2912415" cy="2893800"/>
          </a:xfrm>
          <a:prstGeom prst="rect">
            <a:avLst/>
          </a:prstGeom>
        </p:spPr>
      </p:pic>
      <p:pic>
        <p:nvPicPr>
          <p:cNvPr id="13" name="Graphic 12">
            <a:extLst>
              <a:ext uri="{FF2B5EF4-FFF2-40B4-BE49-F238E27FC236}">
                <a16:creationId xmlns:a16="http://schemas.microsoft.com/office/drawing/2014/main" id="{720B0462-B8F2-C32B-0B21-309E8945302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976546" y="23514521"/>
            <a:ext cx="7133044" cy="1819314"/>
          </a:xfrm>
          <a:prstGeom prst="rect">
            <a:avLst/>
          </a:prstGeom>
        </p:spPr>
      </p:pic>
      <p:pic>
        <p:nvPicPr>
          <p:cNvPr id="16" name="Graphic 15">
            <a:extLst>
              <a:ext uri="{FF2B5EF4-FFF2-40B4-BE49-F238E27FC236}">
                <a16:creationId xmlns:a16="http://schemas.microsoft.com/office/drawing/2014/main" id="{1FD7828C-2569-6BF4-6EE2-474D39E06A3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252690" y="25289734"/>
            <a:ext cx="3380074" cy="3093670"/>
          </a:xfrm>
          <a:prstGeom prst="rect">
            <a:avLst/>
          </a:prstGeom>
        </p:spPr>
      </p:pic>
      <p:pic>
        <p:nvPicPr>
          <p:cNvPr id="12" name="Picture 11">
            <a:extLst>
              <a:ext uri="{FF2B5EF4-FFF2-40B4-BE49-F238E27FC236}">
                <a16:creationId xmlns:a16="http://schemas.microsoft.com/office/drawing/2014/main" id="{E1FE6502-89ED-FEEE-2ED9-98A6500536F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11799" y="685175"/>
            <a:ext cx="5901866" cy="5389263"/>
          </a:xfrm>
          <a:prstGeom prst="rect">
            <a:avLst/>
          </a:prstGeom>
        </p:spPr>
      </p:pic>
      <p:sp>
        <p:nvSpPr>
          <p:cNvPr id="20" name="TextBox 19">
            <a:extLst>
              <a:ext uri="{FF2B5EF4-FFF2-40B4-BE49-F238E27FC236}">
                <a16:creationId xmlns:a16="http://schemas.microsoft.com/office/drawing/2014/main" id="{036EFE9E-50DA-E2ED-01FD-BB1ED7D1435F}"/>
              </a:ext>
            </a:extLst>
          </p:cNvPr>
          <p:cNvSpPr txBox="1"/>
          <p:nvPr/>
        </p:nvSpPr>
        <p:spPr>
          <a:xfrm>
            <a:off x="26166546" y="5440023"/>
            <a:ext cx="6303296" cy="861774"/>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mn-ea"/>
                <a:cs typeface="+mn-cs"/>
              </a:rPr>
              <a:t>Backend Data</a:t>
            </a:r>
          </a:p>
        </p:txBody>
      </p:sp>
      <p:sp>
        <p:nvSpPr>
          <p:cNvPr id="23" name="TextBox 22">
            <a:extLst>
              <a:ext uri="{FF2B5EF4-FFF2-40B4-BE49-F238E27FC236}">
                <a16:creationId xmlns:a16="http://schemas.microsoft.com/office/drawing/2014/main" id="{4601C7EB-DBBF-6E8A-CF35-330EFE9596C8}"/>
              </a:ext>
            </a:extLst>
          </p:cNvPr>
          <p:cNvSpPr txBox="1"/>
          <p:nvPr/>
        </p:nvSpPr>
        <p:spPr>
          <a:xfrm>
            <a:off x="3025190" y="11956450"/>
            <a:ext cx="795174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Calibri"/>
                <a:cs typeface="Calibri"/>
              </a:rPr>
              <a:t>Routing Demonstration</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B59F807D-3E74-BB44-950D-21E1C5B05F71}"/>
              </a:ext>
            </a:extLst>
          </p:cNvPr>
          <p:cNvSpPr txBox="1"/>
          <p:nvPr/>
        </p:nvSpPr>
        <p:spPr>
          <a:xfrm>
            <a:off x="4812324" y="5154062"/>
            <a:ext cx="437747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Calibri"/>
                <a:cs typeface="Calibri"/>
              </a:rPr>
              <a:t>Abstract</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8">
            <a:extLst>
              <a:ext uri="{FF2B5EF4-FFF2-40B4-BE49-F238E27FC236}">
                <a16:creationId xmlns:a16="http://schemas.microsoft.com/office/drawing/2014/main" id="{23179EA1-5A73-4D97-53A2-012C59AF69F0}"/>
              </a:ext>
            </a:extLst>
          </p:cNvPr>
          <p:cNvSpPr txBox="1"/>
          <p:nvPr/>
        </p:nvSpPr>
        <p:spPr>
          <a:xfrm>
            <a:off x="13932481" y="4055533"/>
            <a:ext cx="8737305"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0" b="1" i="0" u="none" strike="noStrike" kern="1200" cap="none" spc="0" normalizeH="0" baseline="0" noProof="0">
                <a:ln>
                  <a:noFill/>
                </a:ln>
                <a:solidFill>
                  <a:prstClr val="black"/>
                </a:solidFill>
                <a:effectLst/>
                <a:uLnTx/>
                <a:uFillTx/>
                <a:latin typeface="Calibri"/>
                <a:ea typeface="Calibri"/>
                <a:cs typeface="Calibri"/>
              </a:rPr>
              <a:t>lostgrenadiers.org</a:t>
            </a:r>
          </a:p>
        </p:txBody>
      </p:sp>
      <p:sp>
        <p:nvSpPr>
          <p:cNvPr id="21" name="TextBox 20">
            <a:extLst>
              <a:ext uri="{FF2B5EF4-FFF2-40B4-BE49-F238E27FC236}">
                <a16:creationId xmlns:a16="http://schemas.microsoft.com/office/drawing/2014/main" id="{EF3C49B0-E097-FF2E-2D78-0153BE50B3BC}"/>
              </a:ext>
            </a:extLst>
          </p:cNvPr>
          <p:cNvSpPr txBox="1"/>
          <p:nvPr/>
        </p:nvSpPr>
        <p:spPr>
          <a:xfrm>
            <a:off x="13281061" y="25340270"/>
            <a:ext cx="9851812" cy="2246769"/>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000" b="1" i="0" u="none" strike="noStrike" kern="1200" cap="none" spc="0" normalizeH="0" baseline="0" noProof="0">
                <a:ln>
                  <a:noFill/>
                </a:ln>
                <a:solidFill>
                  <a:prstClr val="black"/>
                </a:solidFill>
                <a:effectLst/>
                <a:uLnTx/>
                <a:uFillTx/>
                <a:latin typeface="Calibri"/>
                <a:ea typeface="+mn-ea"/>
                <a:cs typeface="+mn-cs"/>
              </a:rPr>
              <a:t>Technical Contributions</a:t>
            </a:r>
            <a:endParaRPr kumimoji="0" lang="en-US" sz="3000" b="0" i="0" u="none" strike="noStrike" kern="1200" cap="none" spc="0" normalizeH="0" baseline="0" noProof="0">
              <a:ln>
                <a:noFill/>
              </a:ln>
              <a:solidFill>
                <a:prstClr val="black"/>
              </a:solidFill>
              <a:effectLst/>
              <a:uLnTx/>
              <a:uFillTx/>
              <a:latin typeface="Calibri"/>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Audrey Dickson: Graphic Design + Frontend Development</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Kaden Langford: Database &amp; API development</a:t>
            </a:r>
            <a:endParaRPr kumimoji="0" lang="en-US" sz="3000" b="0" i="0" u="none" strike="noStrike" kern="1200" cap="none" spc="0" normalizeH="0" baseline="0" noProof="0">
              <a:ln>
                <a:noFill/>
              </a:ln>
              <a:solidFill>
                <a:prstClr val="black"/>
              </a:solidFill>
              <a:effectLst/>
              <a:uLnTx/>
              <a:uFillTx/>
              <a:latin typeface="Calibri"/>
              <a:ea typeface="Calibri"/>
              <a:cs typeface="Calibri"/>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000" b="0" i="0" u="none" strike="noStrike" kern="1200" cap="none" spc="0" normalizeH="0" baseline="0" noProof="0">
                <a:ln>
                  <a:noFill/>
                </a:ln>
                <a:solidFill>
                  <a:prstClr val="black"/>
                </a:solidFill>
                <a:effectLst/>
                <a:uLnTx/>
                <a:uFillTx/>
                <a:latin typeface="Calibri"/>
                <a:ea typeface="+mn-ea"/>
                <a:cs typeface="+mn-cs"/>
              </a:rPr>
              <a:t>Andrew Swartz: </a:t>
            </a:r>
            <a:r>
              <a:rPr kumimoji="0" lang="en-US" sz="3000" b="0" i="0" u="none" strike="noStrike" kern="1200" cap="none" spc="0" normalizeH="0" baseline="0" noProof="0" err="1">
                <a:ln>
                  <a:noFill/>
                </a:ln>
                <a:solidFill>
                  <a:prstClr val="black"/>
                </a:solidFill>
                <a:effectLst/>
                <a:uLnTx/>
                <a:uFillTx/>
                <a:latin typeface="Calibri"/>
                <a:ea typeface="+mn-ea"/>
                <a:cs typeface="+mn-cs"/>
              </a:rPr>
              <a:t>DevSecOps</a:t>
            </a:r>
            <a:r>
              <a:rPr kumimoji="0" lang="en-US" sz="3000" b="0" i="0" u="none" strike="noStrike" kern="1200" cap="none" spc="0" normalizeH="0" baseline="0" noProof="0">
                <a:ln>
                  <a:noFill/>
                </a:ln>
                <a:solidFill>
                  <a:prstClr val="black"/>
                </a:solidFill>
                <a:effectLst/>
                <a:uLnTx/>
                <a:uFillTx/>
                <a:latin typeface="Calibri"/>
                <a:ea typeface="+mn-ea"/>
                <a:cs typeface="+mn-cs"/>
              </a:rPr>
              <a:t> + penetration testing</a:t>
            </a:r>
            <a:endParaRPr kumimoji="0" lang="en-US" sz="3000" b="0" i="0" u="none" strike="noStrike" kern="1200" cap="none" spc="0" normalizeH="0" baseline="0" noProof="0">
              <a:ln>
                <a:noFill/>
              </a:ln>
              <a:solidFill>
                <a:prstClr val="black"/>
              </a:solidFill>
              <a:effectLst/>
              <a:uLnTx/>
              <a:uFillTx/>
              <a:latin typeface="Calibri"/>
              <a:ea typeface="Calibri"/>
              <a:cs typeface="Calibri"/>
            </a:endParaRPr>
          </a:p>
        </p:txBody>
      </p:sp>
      <p:sp>
        <p:nvSpPr>
          <p:cNvPr id="29" name="TextBox 28">
            <a:extLst>
              <a:ext uri="{FF2B5EF4-FFF2-40B4-BE49-F238E27FC236}">
                <a16:creationId xmlns:a16="http://schemas.microsoft.com/office/drawing/2014/main" id="{40A098B5-C979-38F7-E98B-BFB0B26E1A1B}"/>
              </a:ext>
            </a:extLst>
          </p:cNvPr>
          <p:cNvSpPr txBox="1"/>
          <p:nvPr/>
        </p:nvSpPr>
        <p:spPr>
          <a:xfrm>
            <a:off x="18758011" y="15098406"/>
            <a:ext cx="2683748" cy="477054"/>
          </a:xfrm>
          <a:prstGeom prst="rect">
            <a:avLst/>
          </a:prstGeom>
          <a:noFill/>
        </p:spPr>
        <p:txBody>
          <a:bodyPr wrap="none" lIns="91440" tIns="45720" rIns="91440" bIns="45720" rtlCol="0" anchor="t">
            <a:spAutoFit/>
          </a:bodyPr>
          <a:lstStyle/>
          <a:p>
            <a:pPr marL="457200" marR="0" lvl="1" indent="0" algn="ctr" defTabSz="457200" rtl="0" eaLnBrk="1" fontAlgn="auto" latinLnBrk="0" hangingPunct="1">
              <a:lnSpc>
                <a:spcPct val="100000"/>
              </a:lnSpc>
              <a:spcBef>
                <a:spcPts val="0"/>
              </a:spcBef>
              <a:spcAft>
                <a:spcPts val="0"/>
              </a:spcAft>
              <a:buClrTx/>
              <a:buSzTx/>
              <a:buFontTx/>
              <a:buNone/>
              <a:tabLst/>
              <a:defRPr/>
            </a:pPr>
            <a:r>
              <a:rPr kumimoji="0" lang="en-US" sz="2500" b="0" i="0" u="none" strike="noStrike" kern="1200" cap="none" spc="0" normalizeH="0" baseline="0" noProof="0">
                <a:ln>
                  <a:noFill/>
                </a:ln>
                <a:solidFill>
                  <a:prstClr val="black"/>
                </a:solidFill>
                <a:effectLst/>
                <a:uLnTx/>
                <a:uFillTx/>
                <a:latin typeface="Calibri"/>
                <a:ea typeface="Calibri"/>
                <a:cs typeface="Calibri"/>
              </a:rPr>
              <a:t>Accessibility On</a:t>
            </a:r>
          </a:p>
        </p:txBody>
      </p:sp>
      <p:sp>
        <p:nvSpPr>
          <p:cNvPr id="22" name="TextBox 21">
            <a:extLst>
              <a:ext uri="{FF2B5EF4-FFF2-40B4-BE49-F238E27FC236}">
                <a16:creationId xmlns:a16="http://schemas.microsoft.com/office/drawing/2014/main" id="{4F858234-0209-8030-4AF6-2A195B29BA06}"/>
              </a:ext>
            </a:extLst>
          </p:cNvPr>
          <p:cNvSpPr txBox="1"/>
          <p:nvPr/>
        </p:nvSpPr>
        <p:spPr>
          <a:xfrm>
            <a:off x="13805485" y="15098406"/>
            <a:ext cx="3900413" cy="477054"/>
          </a:xfrm>
          <a:prstGeom prst="rect">
            <a:avLst/>
          </a:prstGeom>
          <a:noFill/>
        </p:spPr>
        <p:txBody>
          <a:bodyPr wrap="square" lIns="91440" tIns="45720" rIns="91440" bIns="45720" rtlCol="0" anchor="t">
            <a:spAutoFit/>
          </a:bodyPr>
          <a:lstStyle/>
          <a:p>
            <a:pPr marL="457200" marR="0" lvl="1" indent="0" algn="ctr" defTabSz="457200" rtl="0" eaLnBrk="1" fontAlgn="auto" latinLnBrk="0" hangingPunct="1">
              <a:lnSpc>
                <a:spcPct val="100000"/>
              </a:lnSpc>
              <a:spcBef>
                <a:spcPts val="0"/>
              </a:spcBef>
              <a:spcAft>
                <a:spcPts val="0"/>
              </a:spcAft>
              <a:buClrTx/>
              <a:buSzTx/>
              <a:buFontTx/>
              <a:buNone/>
              <a:tabLst/>
              <a:defRPr/>
            </a:pPr>
            <a:r>
              <a:rPr kumimoji="0" lang="en-US" sz="2500" b="0" i="0" u="none" strike="noStrike" kern="1200" cap="none" spc="0" normalizeH="0" baseline="0" noProof="0">
                <a:ln>
                  <a:noFill/>
                </a:ln>
                <a:solidFill>
                  <a:prstClr val="black"/>
                </a:solidFill>
                <a:effectLst/>
                <a:uLnTx/>
                <a:uFillTx/>
                <a:latin typeface="Calibri"/>
                <a:ea typeface="Calibri"/>
                <a:cs typeface="Calibri"/>
              </a:rPr>
              <a:t>Accessibility Off</a:t>
            </a:r>
          </a:p>
        </p:txBody>
      </p:sp>
      <p:pic>
        <p:nvPicPr>
          <p:cNvPr id="32" name="Picture 31" descr="A diagram of a software process&#10;&#10;AI-generated content may be incorrect.">
            <a:extLst>
              <a:ext uri="{FF2B5EF4-FFF2-40B4-BE49-F238E27FC236}">
                <a16:creationId xmlns:a16="http://schemas.microsoft.com/office/drawing/2014/main" id="{CB3A75DB-C29B-ACD7-13BB-B474BCF7446F}"/>
              </a:ext>
            </a:extLst>
          </p:cNvPr>
          <p:cNvPicPr>
            <a:picLocks noChangeAspect="1"/>
          </p:cNvPicPr>
          <p:nvPr/>
        </p:nvPicPr>
        <p:blipFill>
          <a:blip r:embed="rId13"/>
          <a:stretch>
            <a:fillRect/>
          </a:stretch>
        </p:blipFill>
        <p:spPr>
          <a:xfrm>
            <a:off x="13460932" y="20669079"/>
            <a:ext cx="9227187" cy="3888251"/>
          </a:xfrm>
          <a:prstGeom prst="rect">
            <a:avLst/>
          </a:prstGeom>
        </p:spPr>
      </p:pic>
      <p:pic>
        <p:nvPicPr>
          <p:cNvPr id="27" name="Picture 26" descr="A map of a city&#10;&#10;AI-generated content may be incorrect.">
            <a:extLst>
              <a:ext uri="{FF2B5EF4-FFF2-40B4-BE49-F238E27FC236}">
                <a16:creationId xmlns:a16="http://schemas.microsoft.com/office/drawing/2014/main" id="{2FBCF792-4DCF-0892-5703-59D574F352DC}"/>
              </a:ext>
            </a:extLst>
          </p:cNvPr>
          <p:cNvPicPr>
            <a:picLocks noChangeAspect="1"/>
          </p:cNvPicPr>
          <p:nvPr/>
        </p:nvPicPr>
        <p:blipFill>
          <a:blip r:embed="rId14"/>
          <a:srcRect l="22855" t="8494" r="7963" b="3082"/>
          <a:stretch>
            <a:fillRect/>
          </a:stretch>
        </p:blipFill>
        <p:spPr>
          <a:xfrm>
            <a:off x="25027393" y="9380581"/>
            <a:ext cx="7879186" cy="6203055"/>
          </a:xfrm>
          <a:prstGeom prst="rect">
            <a:avLst/>
          </a:prstGeom>
        </p:spPr>
      </p:pic>
      <p:pic>
        <p:nvPicPr>
          <p:cNvPr id="30" name="Picture 29" descr="A map of a campus&#10;&#10;AI-generated content may be incorrect.">
            <a:extLst>
              <a:ext uri="{FF2B5EF4-FFF2-40B4-BE49-F238E27FC236}">
                <a16:creationId xmlns:a16="http://schemas.microsoft.com/office/drawing/2014/main" id="{D51832A9-E407-9C1B-D136-F224DE4A35CB}"/>
              </a:ext>
            </a:extLst>
          </p:cNvPr>
          <p:cNvPicPr>
            <a:picLocks noChangeAspect="1"/>
          </p:cNvPicPr>
          <p:nvPr/>
        </p:nvPicPr>
        <p:blipFill>
          <a:blip r:embed="rId15"/>
          <a:stretch>
            <a:fillRect/>
          </a:stretch>
        </p:blipFill>
        <p:spPr>
          <a:xfrm>
            <a:off x="3620389" y="12973823"/>
            <a:ext cx="6792513" cy="8248125"/>
          </a:xfrm>
          <a:prstGeom prst="rect">
            <a:avLst/>
          </a:prstGeom>
        </p:spPr>
      </p:pic>
    </p:spTree>
    <p:extLst>
      <p:ext uri="{BB962C8B-B14F-4D97-AF65-F5344CB8AC3E}">
        <p14:creationId xmlns:p14="http://schemas.microsoft.com/office/powerpoint/2010/main" val="1796610229"/>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483</Words>
  <Application>Microsoft Office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Calibri Light</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Dickson, Audrey G</dc:creator>
  <cp:lastModifiedBy>Dickson, Audrey G</cp:lastModifiedBy>
  <cp:revision>1</cp:revision>
  <dcterms:created xsi:type="dcterms:W3CDTF">2026-04-08T02:44:23Z</dcterms:created>
  <dcterms:modified xsi:type="dcterms:W3CDTF">2026-04-17T20:19:43Z</dcterms:modified>
</cp:coreProperties>
</file>